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320040"/>
            <a:ext cx="2240280" cy="74996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41732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0B3C5D"/>
                </a:solidFill>
                <a:latin typeface="Arial"/>
              </a:rPr>
              <a:t>MCDI503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47088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dirty="0">
                <a:solidFill>
                  <a:srgbClr val="232323"/>
                </a:solidFill>
                <a:latin typeface="Arial"/>
              </a:rPr>
              <a:t>EXPLORACIÓN INTELIGENTE PARA LA CIENCIA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7063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dirty="0">
                <a:solidFill>
                  <a:srgbClr val="232323"/>
                </a:solidFill>
                <a:latin typeface="Arial"/>
              </a:rPr>
              <a:t>CIERRE DEL PROYECTO - FASE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10128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C61D30"/>
                </a:solidFill>
                <a:latin typeface="Arial"/>
              </a:rPr>
              <a:t>Evaluación Sumativa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6732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>
                <a:solidFill>
                  <a:srgbClr val="0B3C5D"/>
                </a:solidFill>
                <a:latin typeface="Arial"/>
              </a:rPr>
              <a:t>Pipeline exploratorio reproducible e ingeniería de variables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809744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Arial"/>
              </a:rPr>
              <a:t>Luis Díaz  |  Gonzalo Bouldres  |  Eduardo Contreras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19379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Arial"/>
              </a:rPr>
              <a:t>Grupo 6  |  23 de septiembre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925312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5F6973"/>
                </a:solidFill>
                <a:latin typeface="Arial"/>
              </a:rPr>
              <a:t>Universidad Andrés Bello</a:t>
            </a:r>
          </a:p>
        </p:txBody>
      </p:sp>
      <p:pic>
        <p:nvPicPr>
          <p:cNvPr id="11" name="Picture 5" descr="image14.png">
            <a:extLst>
              <a:ext uri="{FF2B5EF4-FFF2-40B4-BE49-F238E27FC236}">
                <a16:creationId xmlns:a16="http://schemas.microsoft.com/office/drawing/2014/main" id="{E205A536-54EB-32AA-DE6E-469705195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216939"/>
            <a:ext cx="1371600" cy="4591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56032" y="237744"/>
            <a:ext cx="128016" cy="128016"/>
          </a:xfrm>
          <a:prstGeom prst="ellipse">
            <a:avLst/>
          </a:prstGeom>
          <a:solidFill>
            <a:srgbClr val="C61D30"/>
          </a:solidFill>
          <a:ln>
            <a:solidFill>
              <a:srgbClr val="C6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38912" y="283464"/>
            <a:ext cx="11292840" cy="13716"/>
          </a:xfrm>
          <a:prstGeom prst="rect">
            <a:avLst/>
          </a:prstGeom>
          <a:solidFill>
            <a:srgbClr val="AFB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0B3C5D"/>
                </a:solidFill>
                <a:latin typeface="Arial"/>
              </a:rPr>
              <a:t>1. Problema, contexto y objetivo del 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Arial"/>
              </a:rPr>
              <a:t>De EDA reproducible a una matriz candidata para modelamiento posterior</a:t>
            </a:r>
          </a:p>
        </p:txBody>
      </p:sp>
      <p:pic>
        <p:nvPicPr>
          <p:cNvPr id="6" name="Picture 5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216939"/>
            <a:ext cx="1371600" cy="4591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F6973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68580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Problema: analizar diferencias de supervivencia en Titanic sin introducir fuga de información ni redundancias innecesarias.</a:t>
            </a:r>
          </a:p>
          <a:p>
            <a:pPr>
              <a:spcAft>
                <a:spcPts val="6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Continuidad: la Fase 4 parte de la base preparada y validada en las Fases 2-3.</a:t>
            </a:r>
          </a:p>
          <a:p>
            <a:pPr>
              <a:spcAft>
                <a:spcPts val="6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Objetivo: transformar, derivar y seleccionar variables con criterios explícitos y auditables.</a:t>
            </a:r>
          </a:p>
          <a:p>
            <a:pPr>
              <a:spcAft>
                <a:spcPts val="6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Alcance: ingeniería de variables y selección preliminar; no se entrenan modelos ni se evalúa desempeño predictivo.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572768"/>
            <a:ext cx="1691640" cy="822960"/>
          </a:xfrm>
          <a:prstGeom prst="round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64424" y="1673352"/>
            <a:ext cx="139903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300" b="1">
                <a:solidFill>
                  <a:srgbClr val="0B3C5D"/>
                </a:solidFill>
                <a:latin typeface="Arial"/>
              </a:rPr>
              <a:t>891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64424" y="2057400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5F6973"/>
                </a:solidFill>
                <a:latin typeface="Arial"/>
              </a:rPr>
              <a:t>pasajeros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20" y="1572768"/>
            <a:ext cx="1691640" cy="822960"/>
          </a:xfrm>
          <a:prstGeom prst="round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93224" y="1673352"/>
            <a:ext cx="139903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300" b="1">
                <a:solidFill>
                  <a:srgbClr val="0B3C5D"/>
                </a:solidFill>
                <a:latin typeface="Arial"/>
              </a:rP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93224" y="2057400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5F6973"/>
                </a:solidFill>
                <a:latin typeface="Arial"/>
              </a:rPr>
              <a:t>variables originales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2578608"/>
            <a:ext cx="1691640" cy="822960"/>
          </a:xfrm>
          <a:prstGeom prst="round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64424" y="2679191"/>
            <a:ext cx="139903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300" b="1">
                <a:solidFill>
                  <a:srgbClr val="0B3C5D"/>
                </a:solidFill>
                <a:latin typeface="Arial"/>
              </a:rPr>
              <a:t>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64424" y="3063239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5F6973"/>
                </a:solidFill>
                <a:latin typeface="Arial"/>
              </a:rPr>
              <a:t>columnas inicio F4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46920" y="2578608"/>
            <a:ext cx="1691640" cy="822960"/>
          </a:xfrm>
          <a:prstGeom prst="round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93224" y="2679191"/>
            <a:ext cx="139903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300" b="1">
                <a:solidFill>
                  <a:srgbClr val="0B3C5D"/>
                </a:solidFill>
                <a:latin typeface="Arial"/>
              </a:rPr>
              <a:t>38,4 %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93224" y="3063239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5F6973"/>
                </a:solidFill>
                <a:latin typeface="Arial"/>
              </a:rPr>
              <a:t>supervivencia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3794760"/>
            <a:ext cx="3520440" cy="1051560"/>
          </a:xfrm>
          <a:prstGeom prst="roundRect">
            <a:avLst/>
          </a:prstGeom>
          <a:solidFill>
            <a:srgbClr val="FAF7F7"/>
          </a:solidFill>
          <a:ln>
            <a:solidFill>
              <a:srgbClr val="C6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20" y="3995928"/>
            <a:ext cx="306324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C61D30"/>
                </a:solidFill>
                <a:latin typeface="Arial"/>
              </a:rPr>
              <a:t>Criterio metodológico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4334256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232323"/>
                </a:solidFill>
                <a:latin typeface="Arial"/>
              </a:rPr>
              <a:t>Priorizar trazabilidad, consistencia y control de fuga de información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5870448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dirty="0">
                <a:solidFill>
                  <a:srgbClr val="5F6973"/>
                </a:solidFill>
                <a:latin typeface="Arial"/>
              </a:rPr>
              <a:t>Fuente: dataset Titanic de seaborn (Waskom, 2021) y outputs/01-04 del notebook </a:t>
            </a:r>
            <a:r>
              <a:rPr sz="800" b="0" dirty="0" err="1">
                <a:solidFill>
                  <a:srgbClr val="5F6973"/>
                </a:solidFill>
                <a:latin typeface="Arial"/>
              </a:rPr>
              <a:t>Fase</a:t>
            </a:r>
            <a:r>
              <a:rPr sz="800" b="0" dirty="0">
                <a:solidFill>
                  <a:srgbClr val="5F6973"/>
                </a:solidFill>
                <a:latin typeface="Arial"/>
              </a:rPr>
              <a:t> 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56032" y="237744"/>
            <a:ext cx="128016" cy="128016"/>
          </a:xfrm>
          <a:prstGeom prst="ellipse">
            <a:avLst/>
          </a:prstGeom>
          <a:solidFill>
            <a:srgbClr val="C61D30"/>
          </a:solidFill>
          <a:ln>
            <a:solidFill>
              <a:srgbClr val="C6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38912" y="283464"/>
            <a:ext cx="11292840" cy="13716"/>
          </a:xfrm>
          <a:prstGeom prst="rect">
            <a:avLst/>
          </a:prstGeom>
          <a:solidFill>
            <a:srgbClr val="AFB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0B3C5D"/>
                </a:solidFill>
                <a:latin typeface="Arial"/>
              </a:rPr>
              <a:t>2. Dataset y recorrido desarrollado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Arial"/>
              </a:rPr>
              <a:t>Continuidad entre Fases 1-4</a:t>
            </a:r>
          </a:p>
        </p:txBody>
      </p:sp>
      <p:pic>
        <p:nvPicPr>
          <p:cNvPr id="6" name="Picture 5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6358671"/>
            <a:ext cx="1371600" cy="4591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F6973"/>
                </a:solidFill>
                <a:latin typeface="Arial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28800"/>
            <a:ext cx="2331720" cy="2514600"/>
          </a:xfrm>
          <a:prstGeom prst="round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993392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0B3C5D"/>
                </a:solidFill>
                <a:latin typeface="Arial"/>
              </a:rPr>
              <a:t>Fase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514600"/>
            <a:ext cx="1993392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>
                <a:solidFill>
                  <a:srgbClr val="232323"/>
                </a:solidFill>
                <a:latin typeface="Arial"/>
              </a:rPr>
              <a:t>Definición del problema
Selección de Titanic
Foco en supervivencia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2" y="2761488"/>
            <a:ext cx="411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C61D30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828800"/>
            <a:ext cx="2331720" cy="2514600"/>
          </a:xfrm>
          <a:prstGeom prst="round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93591" y="1993392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0B3C5D"/>
                </a:solidFill>
                <a:latin typeface="Arial"/>
              </a:rPr>
              <a:t>Fases 2-3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514600"/>
            <a:ext cx="1993392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>
                <a:solidFill>
                  <a:srgbClr val="232323"/>
                </a:solidFill>
                <a:latin typeface="Arial"/>
              </a:rPr>
              <a:t>Diagnóstico de calidad
Limpieza e imputación
EDA univariado/bivariado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61304" y="2761488"/>
            <a:ext cx="411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C61D30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18504" y="1828800"/>
            <a:ext cx="2331720" cy="2514600"/>
          </a:xfrm>
          <a:prstGeom prst="round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55664" y="1993392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0B3C5D"/>
                </a:solidFill>
                <a:latin typeface="Arial"/>
              </a:rPr>
              <a:t>Fase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2514600"/>
            <a:ext cx="1993392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>
                <a:solidFill>
                  <a:srgbClr val="232323"/>
                </a:solidFill>
                <a:latin typeface="Arial"/>
              </a:rPr>
              <a:t>Transformaciones
Variables derivadas
Selección preliminar
Codificación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23376" y="2761488"/>
            <a:ext cx="411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C61D30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0576" y="1828800"/>
            <a:ext cx="2331720" cy="2514600"/>
          </a:xfrm>
          <a:prstGeom prst="round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17736" y="1993392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0B3C5D"/>
                </a:solidFill>
                <a:latin typeface="Arial"/>
              </a:rPr>
              <a:t>Salida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5167" y="2514600"/>
            <a:ext cx="1993392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>
                <a:solidFill>
                  <a:srgbClr val="232323"/>
                </a:solidFill>
                <a:latin typeface="Arial"/>
              </a:rPr>
              <a:t>Dataset enriquecido
Matriz X candidata
Target separado
Auditoría completa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00600"/>
            <a:ext cx="103327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232323"/>
                </a:solidFill>
                <a:latin typeface="Arial"/>
              </a:rPr>
              <a:t>La Fase 4 no reemplaza el trabajo anterior: lo audita, lo extiende y prepara una representación explícita para una etapa de modelamiento posterior.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6144768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rial"/>
              </a:rPr>
              <a:t>Fuente: trazabilidad del pipeline (outputs/13) y resumen final (outputs/15).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56032" y="237744"/>
            <a:ext cx="128016" cy="128016"/>
          </a:xfrm>
          <a:prstGeom prst="ellipse">
            <a:avLst/>
          </a:prstGeom>
          <a:solidFill>
            <a:srgbClr val="C61D30"/>
          </a:solidFill>
          <a:ln>
            <a:solidFill>
              <a:srgbClr val="C6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38912" y="283464"/>
            <a:ext cx="11292840" cy="13716"/>
          </a:xfrm>
          <a:prstGeom prst="rect">
            <a:avLst/>
          </a:prstGeom>
          <a:solidFill>
            <a:srgbClr val="AFB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0B3C5D"/>
                </a:solidFill>
                <a:latin typeface="Arial"/>
              </a:rPr>
              <a:t>3. Hallazgos exploratorios que motivaron la ingeniería de 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Arial"/>
              </a:rPr>
              <a:t>Evidencia recalculada durante la corrida de Fase 4</a:t>
            </a:r>
          </a:p>
        </p:txBody>
      </p:sp>
      <p:pic>
        <p:nvPicPr>
          <p:cNvPr id="6" name="Picture 5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6358671"/>
            <a:ext cx="1371600" cy="4591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F6973"/>
                </a:solidFill>
                <a:latin typeface="Arial"/>
              </a:rPr>
              <a:t>4</a:t>
            </a:r>
          </a:p>
        </p:txBody>
      </p:sp>
      <p:pic>
        <p:nvPicPr>
          <p:cNvPr id="8" name="Picture 7" descr="03_family_size_supervivenc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17320"/>
            <a:ext cx="5303520" cy="2597642"/>
          </a:xfrm>
          <a:prstGeom prst="rect">
            <a:avLst/>
          </a:prstGeom>
        </p:spPr>
      </p:pic>
      <p:pic>
        <p:nvPicPr>
          <p:cNvPr id="9" name="Picture 8" descr="04_interaccion_sex_pcl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417320"/>
            <a:ext cx="5303520" cy="29191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5166360"/>
            <a:ext cx="48463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232323"/>
                </a:solidFill>
                <a:latin typeface="Arial"/>
              </a:rPr>
              <a:t>Tamaño familiar: 30,4 % (1) → 72,4 % (4) → 13,6 % (6). Patrón no monótono; tamaños 7, 8 y 11 tienen n ≤ 12 y requieren cautela.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5166360"/>
            <a:ext cx="48463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232323"/>
                </a:solidFill>
                <a:latin typeface="Arial"/>
              </a:rPr>
              <a:t>Sexo × clase: 96,8 % mujer-1.ª vs 13,5 % hombre-3.ª; amplitud descriptiva de 83,3 pp.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144768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rial"/>
              </a:rPr>
              <a:t>Fuente: outputs/07-08; figuras generadas por el notebook. Tasas descriptivas, no causales.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56032" y="237744"/>
            <a:ext cx="128016" cy="128016"/>
          </a:xfrm>
          <a:prstGeom prst="ellipse">
            <a:avLst/>
          </a:prstGeom>
          <a:solidFill>
            <a:srgbClr val="C61D30"/>
          </a:solidFill>
          <a:ln>
            <a:solidFill>
              <a:srgbClr val="C6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38912" y="283464"/>
            <a:ext cx="11292840" cy="13716"/>
          </a:xfrm>
          <a:prstGeom prst="rect">
            <a:avLst/>
          </a:prstGeom>
          <a:solidFill>
            <a:srgbClr val="AFB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0B3C5D"/>
                </a:solidFill>
                <a:latin typeface="Arial"/>
              </a:rPr>
              <a:t>4. Arquitectura del pipeline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Arial"/>
              </a:rPr>
              <a:t>Siete etapas con entradas, salidas y criterios auditables</a:t>
            </a:r>
          </a:p>
        </p:txBody>
      </p:sp>
      <p:pic>
        <p:nvPicPr>
          <p:cNvPr id="6" name="Picture 5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6358671"/>
            <a:ext cx="1371600" cy="4591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F6973"/>
                </a:solidFill>
                <a:latin typeface="Arial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1426464" cy="2240280"/>
          </a:xfrm>
          <a:prstGeom prst="round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993392"/>
            <a:ext cx="411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C61D30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542032"/>
            <a:ext cx="120700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0B3C5D"/>
                </a:solidFill>
                <a:latin typeface="Arial"/>
              </a:rPr>
              <a:t>Carga y validación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127248"/>
            <a:ext cx="1207008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232323"/>
                </a:solidFill>
                <a:latin typeface="Arial"/>
              </a:rPr>
              <a:t>Continuidad Fases 2-3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21408" y="1828800"/>
            <a:ext cx="1426464" cy="2240280"/>
          </a:xfrm>
          <a:prstGeom prst="round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24328" y="1993392"/>
            <a:ext cx="411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C61D30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31136" y="2542032"/>
            <a:ext cx="120700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0B3C5D"/>
                </a:solidFill>
                <a:latin typeface="Arial"/>
              </a:rPr>
              <a:t>Transformación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31136" y="3127248"/>
            <a:ext cx="1207008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232323"/>
                </a:solidFill>
                <a:latin typeface="Arial"/>
              </a:rPr>
              <a:t>fare → log1p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85616" y="1828800"/>
            <a:ext cx="1426464" cy="2240280"/>
          </a:xfrm>
          <a:prstGeom prst="round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88536" y="1993392"/>
            <a:ext cx="411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C61D30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95344" y="2542032"/>
            <a:ext cx="120700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0B3C5D"/>
                </a:solidFill>
                <a:latin typeface="Arial"/>
              </a:rPr>
              <a:t>Normalización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95344" y="3127248"/>
            <a:ext cx="1207008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232323"/>
                </a:solidFill>
                <a:latin typeface="Arial"/>
              </a:rPr>
              <a:t>age_z y fare_log1p_z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49824" y="1828800"/>
            <a:ext cx="1426464" cy="2240280"/>
          </a:xfrm>
          <a:prstGeom prst="round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52744" y="1993392"/>
            <a:ext cx="411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C61D30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59552" y="2542032"/>
            <a:ext cx="120700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0B3C5D"/>
                </a:solidFill>
                <a:latin typeface="Arial"/>
              </a:rPr>
              <a:t>Ingeniería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59552" y="3127248"/>
            <a:ext cx="1207008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232323"/>
                </a:solidFill>
                <a:latin typeface="Arial"/>
              </a:rPr>
              <a:t>4 variables derivadas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14032" y="1828800"/>
            <a:ext cx="1426464" cy="2240280"/>
          </a:xfrm>
          <a:prstGeom prst="round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16952" y="1993392"/>
            <a:ext cx="411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C61D30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2542032"/>
            <a:ext cx="120700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0B3C5D"/>
                </a:solidFill>
                <a:latin typeface="Arial"/>
              </a:rPr>
              <a:t>Selección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3127248"/>
            <a:ext cx="1207008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232323"/>
                </a:solidFill>
                <a:latin typeface="Arial"/>
              </a:rPr>
              <a:t>seleccionar / revisar / descartar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78240" y="1828800"/>
            <a:ext cx="1426464" cy="2240280"/>
          </a:xfrm>
          <a:prstGeom prst="round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81160" y="1993392"/>
            <a:ext cx="411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C61D30"/>
                </a:solidFill>
                <a:latin typeface="Arial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87967" y="2542032"/>
            <a:ext cx="120700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0B3C5D"/>
                </a:solidFill>
                <a:latin typeface="Arial"/>
              </a:rPr>
              <a:t>Codificación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7" y="3127248"/>
            <a:ext cx="1207008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232323"/>
                </a:solidFill>
                <a:latin typeface="Arial"/>
              </a:rPr>
              <a:t>one-hot + referencia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442448" y="1828800"/>
            <a:ext cx="1426464" cy="2240280"/>
          </a:xfrm>
          <a:prstGeom prst="round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945368" y="1993392"/>
            <a:ext cx="411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C61D30"/>
                </a:solidFill>
                <a:latin typeface="Arial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52176" y="2542032"/>
            <a:ext cx="120700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0B3C5D"/>
                </a:solidFill>
                <a:latin typeface="Arial"/>
              </a:rPr>
              <a:t>Validación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52176" y="3127248"/>
            <a:ext cx="1207008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232323"/>
                </a:solidFill>
                <a:latin typeface="Arial"/>
              </a:rPr>
              <a:t>28 controles finales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681728"/>
            <a:ext cx="103327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232323"/>
                </a:solidFill>
                <a:latin typeface="Arial"/>
              </a:rPr>
              <a:t>Cada etapa genera evidencia persistente en outputs/, data/process/ o figures/, además de hashes SHA-256 e inventario final de artefactos.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6144768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rial"/>
              </a:rPr>
              <a:t>Fuente: outputs/13_trazabilidad_pipeline.csv y manifest_pipeline.json.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56032" y="237744"/>
            <a:ext cx="128016" cy="128016"/>
          </a:xfrm>
          <a:prstGeom prst="ellipse">
            <a:avLst/>
          </a:prstGeom>
          <a:solidFill>
            <a:srgbClr val="C61D30"/>
          </a:solidFill>
          <a:ln>
            <a:solidFill>
              <a:srgbClr val="C6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38912" y="283464"/>
            <a:ext cx="11292840" cy="13716"/>
          </a:xfrm>
          <a:prstGeom prst="rect">
            <a:avLst/>
          </a:prstGeom>
          <a:solidFill>
            <a:srgbClr val="AFB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0B3C5D"/>
                </a:solidFill>
                <a:latin typeface="Arial"/>
              </a:rPr>
              <a:t>5. Transformaciones y normalizaciones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Arial"/>
              </a:rPr>
              <a:t>El efecto se mide; no se asume</a:t>
            </a:r>
          </a:p>
        </p:txBody>
      </p:sp>
      <p:pic>
        <p:nvPicPr>
          <p:cNvPr id="6" name="Picture 5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6398838"/>
            <a:ext cx="1371600" cy="4591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F6973"/>
                </a:solidFill>
                <a:latin typeface="Arial"/>
              </a:rPr>
              <a:t>6</a:t>
            </a:r>
          </a:p>
        </p:txBody>
      </p:sp>
      <p:pic>
        <p:nvPicPr>
          <p:cNvPr id="8" name="Picture 7" descr="01_transformacion_f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5623560" cy="1991812"/>
          </a:xfrm>
          <a:prstGeom prst="rect">
            <a:avLst/>
          </a:prstGeom>
        </p:spPr>
      </p:pic>
      <p:pic>
        <p:nvPicPr>
          <p:cNvPr id="9" name="Picture 8" descr="02_variables_normalizad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417320"/>
            <a:ext cx="5166360" cy="182987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51560" y="4800600"/>
            <a:ext cx="1828800" cy="822960"/>
          </a:xfrm>
          <a:prstGeom prst="round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97863" y="4901184"/>
            <a:ext cx="153619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300" b="1">
                <a:solidFill>
                  <a:srgbClr val="C61D30"/>
                </a:solidFill>
                <a:latin typeface="Arial"/>
              </a:rPr>
              <a:t>4,787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7863" y="5285232"/>
            <a:ext cx="153619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5F6973"/>
                </a:solidFill>
                <a:latin typeface="Arial"/>
              </a:rPr>
              <a:t>asimetría fare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4800600"/>
            <a:ext cx="1828800" cy="822960"/>
          </a:xfrm>
          <a:prstGeom prst="round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9544" y="4901184"/>
            <a:ext cx="153619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300" b="1">
                <a:solidFill>
                  <a:srgbClr val="1F7A49"/>
                </a:solidFill>
                <a:latin typeface="Arial"/>
              </a:rPr>
              <a:t>0,395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9544" y="5285232"/>
            <a:ext cx="153619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5F6973"/>
                </a:solidFill>
                <a:latin typeface="Arial"/>
              </a:rPr>
              <a:t>asimetría log1p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4828032"/>
            <a:ext cx="45720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232323"/>
                </a:solidFill>
                <a:latin typeface="Arial"/>
              </a:rPr>
              <a:t>age_z y fare_log1p_z quedan con μ≈0 y σ=1; la escala se homogeneiza sin perder trazabilidad.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144768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rial"/>
              </a:rPr>
              <a:t>Fuente: outputs/05_auditoria_transformaciones.csv y Figuras 01-02 del notebook.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56032" y="237744"/>
            <a:ext cx="128016" cy="128016"/>
          </a:xfrm>
          <a:prstGeom prst="ellipse">
            <a:avLst/>
          </a:prstGeom>
          <a:solidFill>
            <a:srgbClr val="C61D30"/>
          </a:solidFill>
          <a:ln>
            <a:solidFill>
              <a:srgbClr val="C6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38912" y="283464"/>
            <a:ext cx="11292840" cy="13716"/>
          </a:xfrm>
          <a:prstGeom prst="rect">
            <a:avLst/>
          </a:prstGeom>
          <a:solidFill>
            <a:srgbClr val="AFB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0B3C5D"/>
                </a:solidFill>
                <a:latin typeface="Arial"/>
              </a:rPr>
              <a:t>6. Variables derivadas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Arial"/>
              </a:rPr>
              <a:t>Origen, regla y utilidad analítica explícitos</a:t>
            </a:r>
          </a:p>
        </p:txBody>
      </p:sp>
      <p:pic>
        <p:nvPicPr>
          <p:cNvPr id="6" name="Picture 5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6345936"/>
            <a:ext cx="1371600" cy="4591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F6973"/>
                </a:solidFill>
                <a:latin typeface="Arial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2011680" cy="502920"/>
          </a:xfrm>
          <a:prstGeom prst="rect">
            <a:avLst/>
          </a:prstGeom>
          <a:solidFill>
            <a:srgbClr val="0B3C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1" y="1746504"/>
            <a:ext cx="1865376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Variable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1600200"/>
            <a:ext cx="2514600" cy="502920"/>
          </a:xfrm>
          <a:prstGeom prst="rect">
            <a:avLst/>
          </a:prstGeom>
          <a:solidFill>
            <a:srgbClr val="0B3C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53512" y="1746504"/>
            <a:ext cx="2368296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Regla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23560" y="1600200"/>
            <a:ext cx="2743200" cy="502920"/>
          </a:xfrm>
          <a:prstGeom prst="rect">
            <a:avLst/>
          </a:prstGeom>
          <a:solidFill>
            <a:srgbClr val="0B3C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96712" y="1746504"/>
            <a:ext cx="2596896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Utilidad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49640" y="1600200"/>
            <a:ext cx="2194560" cy="502920"/>
          </a:xfrm>
          <a:prstGeom prst="rect">
            <a:avLst/>
          </a:prstGeom>
          <a:solidFill>
            <a:srgbClr val="0B3C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22792" y="1746504"/>
            <a:ext cx="204825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Decisión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103120"/>
            <a:ext cx="2011680" cy="731520"/>
          </a:xfrm>
          <a:prstGeom prst="rect">
            <a:avLst/>
          </a:prstGeom>
          <a:solidFill>
            <a:srgbClr val="FFFFFF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1" y="2286000"/>
            <a:ext cx="186537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232323"/>
                </a:solidFill>
                <a:latin typeface="Arial"/>
              </a:rPr>
              <a:t>is_minor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0360" y="2103120"/>
            <a:ext cx="25146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53512" y="2286000"/>
            <a:ext cx="236829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age_clean &lt; 16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23560" y="2103120"/>
            <a:ext cx="27432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96712" y="2286000"/>
            <a:ext cx="259689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Umbral etario interpretable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49640" y="2103120"/>
            <a:ext cx="2194560" cy="731520"/>
          </a:xfrm>
          <a:prstGeom prst="rect">
            <a:avLst/>
          </a:prstGeom>
          <a:solidFill>
            <a:srgbClr val="FFFFFF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22792" y="2286000"/>
            <a:ext cx="20482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Seleccionada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2862072"/>
            <a:ext cx="2011680" cy="731520"/>
          </a:xfrm>
          <a:prstGeom prst="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1" y="3044952"/>
            <a:ext cx="186537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232323"/>
                </a:solidFill>
                <a:latin typeface="Arial"/>
              </a:rPr>
              <a:t>sex_pclass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80360" y="2862072"/>
            <a:ext cx="2514600" cy="731520"/>
          </a:xfrm>
          <a:prstGeom prst="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953512" y="3044952"/>
            <a:ext cx="236829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sex + pclass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23560" y="2862072"/>
            <a:ext cx="2743200" cy="731520"/>
          </a:xfrm>
          <a:prstGeom prst="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96712" y="3044952"/>
            <a:ext cx="259689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Interacción categórica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49640" y="2862072"/>
            <a:ext cx="2194560" cy="731520"/>
          </a:xfrm>
          <a:prstGeom prst="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22792" y="3044952"/>
            <a:ext cx="20482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En revisión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3621024"/>
            <a:ext cx="2011680" cy="731520"/>
          </a:xfrm>
          <a:prstGeom prst="rect">
            <a:avLst/>
          </a:prstGeom>
          <a:solidFill>
            <a:srgbClr val="FFFFFF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3231" y="3803904"/>
            <a:ext cx="186537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232323"/>
                </a:solidFill>
                <a:latin typeface="Arial"/>
              </a:rPr>
              <a:t>family_size_sq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80360" y="3621024"/>
            <a:ext cx="25146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953512" y="3803904"/>
            <a:ext cx="236829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family_size²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23560" y="3621024"/>
            <a:ext cx="27432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696712" y="3803904"/>
            <a:ext cx="259689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Curvatura potencial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49640" y="3621024"/>
            <a:ext cx="2194560" cy="731520"/>
          </a:xfrm>
          <a:prstGeom prst="rect">
            <a:avLst/>
          </a:prstGeom>
          <a:solidFill>
            <a:srgbClr val="FFFFFF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22792" y="3803904"/>
            <a:ext cx="20482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Seleccionada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379975"/>
            <a:ext cx="2011680" cy="731520"/>
          </a:xfrm>
          <a:prstGeom prst="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3231" y="4562855"/>
            <a:ext cx="186537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232323"/>
                </a:solidFill>
                <a:latin typeface="Arial"/>
              </a:rPr>
              <a:t>has_family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80360" y="4379975"/>
            <a:ext cx="2514600" cy="731520"/>
          </a:xfrm>
          <a:prstGeom prst="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953512" y="4562855"/>
            <a:ext cx="236829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family_size &gt; 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23560" y="4379975"/>
            <a:ext cx="2743200" cy="731520"/>
          </a:xfrm>
          <a:prstGeom prst="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696712" y="4562855"/>
            <a:ext cx="259689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Acompañamiento familiar binario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49640" y="4379975"/>
            <a:ext cx="2194560" cy="731520"/>
          </a:xfrm>
          <a:prstGeom prst="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622792" y="4562855"/>
            <a:ext cx="20482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En revisión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" y="6144768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rial"/>
              </a:rPr>
              <a:t>Fuente: outputs/06_variables_derivadas.csv y outputs/10_seleccion_preliminar_caracteristicas.csv.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56032" y="237744"/>
            <a:ext cx="128016" cy="128016"/>
          </a:xfrm>
          <a:prstGeom prst="ellipse">
            <a:avLst/>
          </a:prstGeom>
          <a:solidFill>
            <a:srgbClr val="C61D30"/>
          </a:solidFill>
          <a:ln>
            <a:solidFill>
              <a:srgbClr val="C6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38912" y="283464"/>
            <a:ext cx="11292840" cy="13716"/>
          </a:xfrm>
          <a:prstGeom prst="rect">
            <a:avLst/>
          </a:prstGeom>
          <a:solidFill>
            <a:srgbClr val="AFB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0B3C5D"/>
                </a:solidFill>
                <a:latin typeface="Arial"/>
              </a:rPr>
              <a:t>7. Selección preliminar de características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Arial"/>
              </a:rPr>
              <a:t>La decisión se documenta variable por variable</a:t>
            </a:r>
          </a:p>
        </p:txBody>
      </p:sp>
      <p:pic>
        <p:nvPicPr>
          <p:cNvPr id="6" name="Picture 5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6345936"/>
            <a:ext cx="1371600" cy="4591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F6973"/>
                </a:solidFill>
                <a:latin typeface="Arial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10835640" cy="1143000"/>
          </a:xfrm>
          <a:prstGeom prst="roundRect">
            <a:avLst/>
          </a:prstGeom>
          <a:solidFill>
            <a:srgbClr val="F2F5F7"/>
          </a:solidFill>
          <a:ln>
            <a:solidFill>
              <a:srgbClr val="1F7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6367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F7A49"/>
                </a:solidFill>
                <a:latin typeface="Arial"/>
              </a:rPr>
              <a:t>Seleccionar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636776"/>
            <a:ext cx="55321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232323"/>
                </a:solidFill>
                <a:latin typeface="Arial"/>
              </a:rPr>
              <a:t>age_z; fare_log1p_z; pclass; sex; embarked_clean; family_size; family_size_sq; is_minor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8431" y="1636776"/>
            <a:ext cx="3246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5F6973"/>
                </a:solidFill>
                <a:latin typeface="Arial"/>
              </a:rPr>
              <a:t>Relevancia, calidad, interpretabilidad y representación preparada.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26080"/>
            <a:ext cx="10835640" cy="1143000"/>
          </a:xfrm>
          <a:prstGeom prst="roundRect">
            <a:avLst/>
          </a:prstGeom>
          <a:solidFill>
            <a:srgbClr val="F2F5F7"/>
          </a:solidFill>
          <a:ln>
            <a:solidFill>
              <a:srgbClr val="B0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305409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B06F00"/>
                </a:solidFill>
                <a:latin typeface="Arial"/>
              </a:rPr>
              <a:t>Revisar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054096"/>
            <a:ext cx="55321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232323"/>
                </a:solidFill>
                <a:latin typeface="Arial"/>
              </a:rPr>
              <a:t>sex_pclass; age_imputed; family_group; age_group; has_family; embarked_imputed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8431" y="3054096"/>
            <a:ext cx="3246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5F6973"/>
                </a:solidFill>
                <a:latin typeface="Arial"/>
              </a:rPr>
              <a:t>Potencial aporte, pero redundancia o riesgo de capturar proceso de imputación.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343400"/>
            <a:ext cx="10835640" cy="1143000"/>
          </a:xfrm>
          <a:prstGeom prst="roundRect">
            <a:avLst/>
          </a:prstGeom>
          <a:solidFill>
            <a:srgbClr val="F2F5F7"/>
          </a:solidFill>
          <a:ln>
            <a:solidFill>
              <a:srgbClr val="C6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447141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C61D30"/>
                </a:solidFill>
                <a:latin typeface="Arial"/>
              </a:rPr>
              <a:t>Descartar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4471416"/>
            <a:ext cx="55321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232323"/>
                </a:solidFill>
                <a:latin typeface="Arial"/>
              </a:rPr>
              <a:t>alive; row_id; class; age/fare originales; deck; sibsp/parch y redundantes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4471416"/>
            <a:ext cx="3246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5F6973"/>
                </a:solidFill>
                <a:latin typeface="Arial"/>
              </a:rPr>
              <a:t>Fuga, identificadores, alta ausencia, agregación o sustitución por versiones preparadas o derivadas.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623560"/>
            <a:ext cx="104241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232323"/>
                </a:solidFill>
                <a:latin typeface="Arial"/>
              </a:rPr>
              <a:t>Puntos críticos: alive se excluye por fuga directa; deck por 77,2 % de ausencia; sex_pclass se mantiene en revisión por posible redundancia.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144768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rial"/>
              </a:rPr>
              <a:t>Fuente: outputs/09-10. Selección preliminar; no equivale a importancia predictiva validada.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56032" y="237744"/>
            <a:ext cx="128016" cy="128016"/>
          </a:xfrm>
          <a:prstGeom prst="ellipse">
            <a:avLst/>
          </a:prstGeom>
          <a:solidFill>
            <a:srgbClr val="C61D30"/>
          </a:solidFill>
          <a:ln>
            <a:solidFill>
              <a:srgbClr val="C6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38912" y="283464"/>
            <a:ext cx="11292840" cy="13716"/>
          </a:xfrm>
          <a:prstGeom prst="rect">
            <a:avLst/>
          </a:prstGeom>
          <a:solidFill>
            <a:srgbClr val="AFB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0B3C5D"/>
                </a:solidFill>
                <a:latin typeface="Arial"/>
              </a:rPr>
              <a:t>8. Resultado final: matriz candidata y variable objetivo separada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Arial"/>
              </a:rPr>
              <a:t>Representación numérica consistente para una etapa posterior</a:t>
            </a:r>
          </a:p>
        </p:txBody>
      </p:sp>
      <p:pic>
        <p:nvPicPr>
          <p:cNvPr id="6" name="Picture 5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6381531"/>
            <a:ext cx="1371600" cy="4591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F6973"/>
                </a:solidFill>
                <a:latin typeface="Arial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44752"/>
            <a:ext cx="1965960" cy="822960"/>
          </a:xfrm>
          <a:prstGeom prst="round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545336"/>
            <a:ext cx="1673351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300" b="1">
                <a:solidFill>
                  <a:srgbClr val="0B3C5D"/>
                </a:solidFill>
                <a:latin typeface="Arial"/>
              </a:rPr>
              <a:t>891 × 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19293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5F6973"/>
                </a:solidFill>
                <a:latin typeface="Arial"/>
              </a:rPr>
              <a:t>dataset enriquecido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1444752"/>
            <a:ext cx="1965960" cy="822960"/>
          </a:xfrm>
          <a:prstGeom prst="round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26664" y="1545336"/>
            <a:ext cx="1673351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300" b="1">
                <a:solidFill>
                  <a:srgbClr val="0B3C5D"/>
                </a:solidFill>
                <a:latin typeface="Arial"/>
              </a:rPr>
              <a:t>891 ×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26664" y="19293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5F6973"/>
                </a:solidFill>
                <a:latin typeface="Arial"/>
              </a:rPr>
              <a:t>matriz X candidata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444752"/>
            <a:ext cx="1965960" cy="822960"/>
          </a:xfrm>
          <a:prstGeom prst="round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75504" y="1545336"/>
            <a:ext cx="1673351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300" b="1">
                <a:solidFill>
                  <a:srgbClr val="1F7A49"/>
                </a:solidFill>
                <a:latin typeface="Arial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5504" y="19293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5F6973"/>
                </a:solidFill>
                <a:latin typeface="Arial"/>
              </a:rPr>
              <a:t>missing en 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1444752"/>
            <a:ext cx="1965960" cy="822960"/>
          </a:xfrm>
          <a:prstGeom prst="round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24344" y="1545336"/>
            <a:ext cx="1673351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300" b="1">
                <a:solidFill>
                  <a:srgbClr val="1F7A49"/>
                </a:solidFill>
                <a:latin typeface="Arial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24344" y="19293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5F6973"/>
                </a:solidFill>
                <a:latin typeface="Arial"/>
              </a:rPr>
              <a:t>categóricas sin codificar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444752"/>
            <a:ext cx="1965960" cy="822960"/>
          </a:xfrm>
          <a:prstGeom prst="round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73184" y="1545336"/>
            <a:ext cx="1673351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300" b="1">
                <a:solidFill>
                  <a:srgbClr val="0B3C5D"/>
                </a:solidFill>
                <a:latin typeface="Arial"/>
              </a:rPr>
              <a:t>1 + 1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73184" y="19293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5F6973"/>
                </a:solidFill>
                <a:latin typeface="Arial"/>
              </a:rPr>
              <a:t>objetivo + 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7889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Columnas de 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273552"/>
            <a:ext cx="1947672" cy="502920"/>
          </a:xfrm>
          <a:prstGeom prst="round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3419856"/>
            <a:ext cx="185623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232323"/>
                </a:solidFill>
                <a:latin typeface="Arial"/>
              </a:rPr>
              <a:t>age_z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53512" y="3273552"/>
            <a:ext cx="1947672" cy="502920"/>
          </a:xfrm>
          <a:prstGeom prst="round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999232" y="3419856"/>
            <a:ext cx="185623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232323"/>
                </a:solidFill>
                <a:latin typeface="Arial"/>
              </a:rPr>
              <a:t>fare_log1p_z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29783" y="3273552"/>
            <a:ext cx="1947672" cy="502920"/>
          </a:xfrm>
          <a:prstGeom prst="round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75503" y="3419856"/>
            <a:ext cx="185623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232323"/>
                </a:solidFill>
                <a:latin typeface="Arial"/>
              </a:rPr>
              <a:t>family_size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06055" y="3273552"/>
            <a:ext cx="1947672" cy="502920"/>
          </a:xfrm>
          <a:prstGeom prst="round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51775" y="3419856"/>
            <a:ext cx="185623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232323"/>
                </a:solidFill>
                <a:latin typeface="Arial"/>
              </a:rPr>
              <a:t>family_size_sq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82328" y="3273552"/>
            <a:ext cx="1947672" cy="502920"/>
          </a:xfrm>
          <a:prstGeom prst="round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28048" y="3419856"/>
            <a:ext cx="185623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232323"/>
                </a:solidFill>
                <a:latin typeface="Arial"/>
              </a:rPr>
              <a:t>is_minor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3986784"/>
            <a:ext cx="1947672" cy="502920"/>
          </a:xfrm>
          <a:prstGeom prst="round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" y="4133088"/>
            <a:ext cx="185623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232323"/>
                </a:solidFill>
                <a:latin typeface="Arial"/>
              </a:rPr>
              <a:t>sex_male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953512" y="3986784"/>
            <a:ext cx="1947672" cy="502920"/>
          </a:xfrm>
          <a:prstGeom prst="round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999232" y="4133088"/>
            <a:ext cx="185623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232323"/>
                </a:solidFill>
                <a:latin typeface="Arial"/>
              </a:rPr>
              <a:t>pclass_2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29783" y="3986784"/>
            <a:ext cx="1947672" cy="502920"/>
          </a:xfrm>
          <a:prstGeom prst="round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175503" y="4133088"/>
            <a:ext cx="185623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232323"/>
                </a:solidFill>
                <a:latin typeface="Arial"/>
              </a:rPr>
              <a:t>pclass_3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06055" y="3986784"/>
            <a:ext cx="1947672" cy="502920"/>
          </a:xfrm>
          <a:prstGeom prst="round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351775" y="4133088"/>
            <a:ext cx="185623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232323"/>
                </a:solidFill>
                <a:latin typeface="Arial"/>
              </a:rPr>
              <a:t>embarked_clean_Q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82328" y="3986784"/>
            <a:ext cx="1947672" cy="502920"/>
          </a:xfrm>
          <a:prstGeom prst="round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528048" y="4133088"/>
            <a:ext cx="185623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232323"/>
                </a:solidFill>
                <a:latin typeface="Arial"/>
              </a:rPr>
              <a:t>embarked_clean_S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510235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C61D30"/>
                </a:solidFill>
                <a:latin typeface="Arial"/>
              </a:rPr>
              <a:t>Archivo objetivo: survived + row_id para trazabilidad. Ninguna de estas columnas ingresa a X.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" y="6144768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rial"/>
              </a:rPr>
              <a:t>Fuente: outputs/12_esquema_matriz_caracteristicas.csv y outputs/15_resumen_dataset_final.csv.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56032" y="237744"/>
            <a:ext cx="128016" cy="128016"/>
          </a:xfrm>
          <a:prstGeom prst="ellipse">
            <a:avLst/>
          </a:prstGeom>
          <a:solidFill>
            <a:srgbClr val="C61D30"/>
          </a:solidFill>
          <a:ln>
            <a:solidFill>
              <a:srgbClr val="C6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38912" y="283464"/>
            <a:ext cx="11292840" cy="13716"/>
          </a:xfrm>
          <a:prstGeom prst="rect">
            <a:avLst/>
          </a:prstGeom>
          <a:solidFill>
            <a:srgbClr val="AFB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0B3C5D"/>
                </a:solidFill>
                <a:latin typeface="Arial"/>
              </a:rPr>
              <a:t>9. Reproducibilidad y trazabilidad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Arial"/>
              </a:rPr>
              <a:t>La corrida puede auditarse desde fuentes hasta artefactos finales</a:t>
            </a:r>
          </a:p>
        </p:txBody>
      </p:sp>
      <p:pic>
        <p:nvPicPr>
          <p:cNvPr id="6" name="Picture 5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6358671"/>
            <a:ext cx="1371600" cy="4591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F6973"/>
                </a:solidFill>
                <a:latin typeface="Arial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2148840" cy="822960"/>
          </a:xfrm>
          <a:prstGeom prst="round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517904"/>
            <a:ext cx="185623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300" b="1">
                <a:solidFill>
                  <a:srgbClr val="1F7A49"/>
                </a:solidFill>
                <a:latin typeface="Arial"/>
              </a:rPr>
              <a:t>14/14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185623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5F6973"/>
                </a:solidFill>
                <a:latin typeface="Arial"/>
              </a:rPr>
              <a:t>controles de entrada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1417320"/>
            <a:ext cx="2148840" cy="822960"/>
          </a:xfrm>
          <a:prstGeom prst="round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9544" y="1517904"/>
            <a:ext cx="185623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300" b="1">
                <a:solidFill>
                  <a:srgbClr val="1F7A49"/>
                </a:solidFill>
                <a:latin typeface="Arial"/>
              </a:rPr>
              <a:t>28/28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9544" y="1901952"/>
            <a:ext cx="185623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5F6973"/>
                </a:solidFill>
                <a:latin typeface="Arial"/>
              </a:rPr>
              <a:t>validaciones finales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4960" y="1417320"/>
            <a:ext cx="2148840" cy="822960"/>
          </a:xfrm>
          <a:prstGeom prst="round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41264" y="1517904"/>
            <a:ext cx="185623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300" b="1">
                <a:solidFill>
                  <a:srgbClr val="0B3C5D"/>
                </a:solidFill>
                <a:latin typeface="Arial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41264" y="1901952"/>
            <a:ext cx="185623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5F6973"/>
                </a:solidFill>
                <a:latin typeface="Arial"/>
              </a:rPr>
              <a:t>etapas registradas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1417320"/>
            <a:ext cx="2148840" cy="822960"/>
          </a:xfrm>
          <a:prstGeom prst="round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72983" y="1517904"/>
            <a:ext cx="185623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300" b="1">
                <a:solidFill>
                  <a:srgbClr val="0B3C5D"/>
                </a:solidFill>
                <a:latin typeface="Arial"/>
              </a:rPr>
              <a:t>SHA-256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2983" y="1901952"/>
            <a:ext cx="185623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5F6973"/>
                </a:solidFill>
                <a:latin typeface="Arial"/>
              </a:rPr>
              <a:t>integridad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743200"/>
            <a:ext cx="10424160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Versiones del entorno: Python, pandas, NumPy, matplotlib y seaborn.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Hashes de titanic.csv y titanic_f23_prepared.csv.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Auditorías separadas para transformaciones, variables derivadas, selección y codificación.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Inventario final de artefactos + manifest_pipeline.json.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Preservación comprobada de las 15 columnas originales y de las 891 filas.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532120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1F7A49"/>
                </a:solidFill>
                <a:latin typeface="Arial"/>
              </a:rPr>
              <a:t>Resultado: todas las validaciones del pipeline fueron superadas en la ejecución final.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6144768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rial"/>
              </a:rPr>
              <a:t>Fuente: outputs/00-16, outputs/14_validacion_pipeline_final.csv y manifest_pipeline.json.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56032" y="237744"/>
            <a:ext cx="128016" cy="128016"/>
          </a:xfrm>
          <a:prstGeom prst="ellipse">
            <a:avLst/>
          </a:prstGeom>
          <a:solidFill>
            <a:srgbClr val="C61D30"/>
          </a:solidFill>
          <a:ln>
            <a:solidFill>
              <a:srgbClr val="C6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38912" y="283464"/>
            <a:ext cx="11292840" cy="13716"/>
          </a:xfrm>
          <a:prstGeom prst="rect">
            <a:avLst/>
          </a:prstGeom>
          <a:solidFill>
            <a:srgbClr val="AFB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0B3C5D"/>
                </a:solidFill>
                <a:latin typeface="Arial"/>
              </a:rPr>
              <a:t>10. Valor analítico y limitaciones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Arial"/>
              </a:rPr>
              <a:t>Qué mejora el pipeline y qué todavía no puede afirmarse</a:t>
            </a:r>
          </a:p>
        </p:txBody>
      </p:sp>
      <p:pic>
        <p:nvPicPr>
          <p:cNvPr id="6" name="Picture 5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6345936"/>
            <a:ext cx="1371600" cy="4591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F6973"/>
                </a:solidFill>
                <a:latin typeface="Arial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212080" cy="4480560"/>
          </a:xfrm>
          <a:prstGeom prst="roundRect">
            <a:avLst/>
          </a:prstGeom>
          <a:solidFill>
            <a:srgbClr val="F2F5F7"/>
          </a:solidFill>
          <a:ln>
            <a:solidFill>
              <a:srgbClr val="1F7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627632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1F7A49"/>
                </a:solidFill>
                <a:latin typeface="Arial"/>
              </a:rPr>
              <a:t>Valor analítico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12080" cy="4480560"/>
          </a:xfrm>
          <a:prstGeom prst="roundRect">
            <a:avLst/>
          </a:prstGeom>
          <a:solidFill>
            <a:srgbClr val="F2F5F7"/>
          </a:solidFill>
          <a:ln>
            <a:solidFill>
              <a:srgbClr val="C6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627632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C61D30"/>
                </a:solidFill>
                <a:latin typeface="Arial"/>
              </a:rPr>
              <a:t>Limitaciones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48840"/>
            <a:ext cx="457200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32323"/>
                </a:solidFill>
                <a:latin typeface="Arial"/>
              </a:defRPr>
            </a:pPr>
            <a:r>
              <a:t>Reduce la asimetría de tarifa con evidencia cuantificada.</a:t>
            </a:r>
          </a:p>
          <a:p>
            <a:pPr>
              <a:spcAft>
                <a:spcPts val="600"/>
              </a:spcAft>
              <a:defRPr sz="1300">
                <a:solidFill>
                  <a:srgbClr val="232323"/>
                </a:solidFill>
                <a:latin typeface="Arial"/>
              </a:defRPr>
            </a:pPr>
            <a:r>
              <a:t>Homogeneiza escala de variables continuas.</a:t>
            </a:r>
          </a:p>
          <a:p>
            <a:pPr>
              <a:spcAft>
                <a:spcPts val="600"/>
              </a:spcAft>
              <a:defRPr sz="1300">
                <a:solidFill>
                  <a:srgbClr val="232323"/>
                </a:solidFill>
                <a:latin typeface="Arial"/>
              </a:defRPr>
            </a:pPr>
            <a:r>
              <a:t>Representa umbral etario y no linealidad familiar.</a:t>
            </a:r>
          </a:p>
          <a:p>
            <a:pPr>
              <a:spcAft>
                <a:spcPts val="600"/>
              </a:spcAft>
              <a:defRPr sz="1300">
                <a:solidFill>
                  <a:srgbClr val="232323"/>
                </a:solidFill>
                <a:latin typeface="Arial"/>
              </a:defRPr>
            </a:pPr>
            <a:r>
              <a:t>Separa explícitamente target y características.</a:t>
            </a:r>
          </a:p>
          <a:p>
            <a:pPr>
              <a:spcAft>
                <a:spcPts val="600"/>
              </a:spcAft>
              <a:defRPr sz="1300">
                <a:solidFill>
                  <a:srgbClr val="232323"/>
                </a:solidFill>
                <a:latin typeface="Arial"/>
              </a:defRPr>
            </a:pPr>
            <a:r>
              <a:t>Controla fuga y redundancia antes del modelamiento.</a:t>
            </a:r>
          </a:p>
          <a:p>
            <a:pPr>
              <a:spcAft>
                <a:spcPts val="600"/>
              </a:spcAft>
              <a:defRPr sz="1300">
                <a:solidFill>
                  <a:srgbClr val="232323"/>
                </a:solidFill>
                <a:latin typeface="Arial"/>
              </a:defRPr>
            </a:pPr>
            <a:r>
              <a:t>Deja una matriz numérica de 10 características sin missing.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48840"/>
            <a:ext cx="457200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32323"/>
                </a:solidFill>
                <a:latin typeface="Arial"/>
              </a:defRPr>
            </a:pPr>
            <a:r>
              <a:t>Dataset histórico y específico; no generalizable por sí solo.</a:t>
            </a:r>
          </a:p>
          <a:p>
            <a:pPr>
              <a:spcAft>
                <a:spcPts val="600"/>
              </a:spcAft>
              <a:defRPr sz="1300">
                <a:solidFill>
                  <a:srgbClr val="232323"/>
                </a:solidFill>
                <a:latin typeface="Arial"/>
              </a:defRPr>
            </a:pPr>
            <a:r>
              <a:t>deck presenta 77,2 % de ausencia original.</a:t>
            </a:r>
          </a:p>
          <a:p>
            <a:pPr>
              <a:spcAft>
                <a:spcPts val="600"/>
              </a:spcAft>
              <a:defRPr sz="1300">
                <a:solidFill>
                  <a:srgbClr val="232323"/>
                </a:solidFill>
                <a:latin typeface="Arial"/>
              </a:defRPr>
            </a:pPr>
            <a:r>
              <a:t>age_clean depende de imputación previa.</a:t>
            </a:r>
          </a:p>
          <a:p>
            <a:pPr>
              <a:spcAft>
                <a:spcPts val="600"/>
              </a:spcAft>
              <a:defRPr sz="1300">
                <a:solidFill>
                  <a:srgbClr val="232323"/>
                </a:solidFill>
                <a:latin typeface="Arial"/>
              </a:defRPr>
            </a:pPr>
            <a:r>
              <a:t>Las asociaciones observadas no demuestran causalidad.</a:t>
            </a:r>
          </a:p>
          <a:p>
            <a:pPr>
              <a:spcAft>
                <a:spcPts val="600"/>
              </a:spcAft>
              <a:defRPr sz="1300">
                <a:solidFill>
                  <a:srgbClr val="232323"/>
                </a:solidFill>
                <a:latin typeface="Arial"/>
              </a:defRPr>
            </a:pPr>
            <a:r>
              <a:t>La selección es preliminar y no está validada fuera de muestra.</a:t>
            </a:r>
          </a:p>
          <a:p>
            <a:pPr>
              <a:spcAft>
                <a:spcPts val="600"/>
              </a:spcAft>
              <a:defRPr sz="1300">
                <a:solidFill>
                  <a:srgbClr val="232323"/>
                </a:solidFill>
                <a:latin typeface="Arial"/>
              </a:defRPr>
            </a:pPr>
            <a:r>
              <a:t>Aún falta comparar modelos y estudiar estabilidad de características.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144768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rial"/>
              </a:rPr>
              <a:t>Fuente: Notebook IX y síntesis metodológica del informe final.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56032" y="237744"/>
            <a:ext cx="128016" cy="128016"/>
          </a:xfrm>
          <a:prstGeom prst="ellipse">
            <a:avLst/>
          </a:prstGeom>
          <a:solidFill>
            <a:srgbClr val="C61D30"/>
          </a:solidFill>
          <a:ln>
            <a:solidFill>
              <a:srgbClr val="C6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38912" y="283464"/>
            <a:ext cx="11292840" cy="13716"/>
          </a:xfrm>
          <a:prstGeom prst="rect">
            <a:avLst/>
          </a:prstGeom>
          <a:solidFill>
            <a:srgbClr val="AFB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0B3C5D"/>
                </a:solidFill>
                <a:latin typeface="Arial"/>
              </a:rPr>
              <a:t>11. Cierre y continuidad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Arial"/>
              </a:rPr>
              <a:t>El proyecto queda preparado para una etapa posterior de modelamiento y validación</a:t>
            </a:r>
          </a:p>
        </p:txBody>
      </p:sp>
      <p:pic>
        <p:nvPicPr>
          <p:cNvPr id="6" name="Picture 5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6206815"/>
            <a:ext cx="1371600" cy="4591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F6973"/>
                </a:solidFill>
                <a:latin typeface="Arial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0B3C5D"/>
                </a:solidFill>
                <a:latin typeface="Arial"/>
              </a:rPr>
              <a:t>Conclusiones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4937760" cy="3154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32323"/>
                </a:solidFill>
                <a:latin typeface="Arial"/>
              </a:defRPr>
            </a:pPr>
            <a:r>
              <a:t>El pipeline de Fase 4 es reproducible y trazable de extremo a extremo.</a:t>
            </a:r>
          </a:p>
          <a:p>
            <a:pPr>
              <a:spcAft>
                <a:spcPts val="600"/>
              </a:spcAft>
              <a:defRPr sz="1300">
                <a:solidFill>
                  <a:srgbClr val="232323"/>
                </a:solidFill>
                <a:latin typeface="Arial"/>
              </a:defRPr>
            </a:pPr>
            <a:r>
              <a:t>Las transformaciones están justificadas por evidencia observada.</a:t>
            </a:r>
          </a:p>
          <a:p>
            <a:pPr>
              <a:spcAft>
                <a:spcPts val="600"/>
              </a:spcAft>
              <a:defRPr sz="1300">
                <a:solidFill>
                  <a:srgbClr val="232323"/>
                </a:solidFill>
                <a:latin typeface="Arial"/>
              </a:defRPr>
            </a:pPr>
            <a:r>
              <a:t>La ingeniería de variables se sustenta en patrones observados durante el EDA.</a:t>
            </a:r>
          </a:p>
          <a:p>
            <a:pPr>
              <a:spcAft>
                <a:spcPts val="600"/>
              </a:spcAft>
              <a:defRPr sz="1300">
                <a:solidFill>
                  <a:srgbClr val="232323"/>
                </a:solidFill>
                <a:latin typeface="Arial"/>
              </a:defRPr>
            </a:pPr>
            <a:r>
              <a:t>La matriz candidata queda en 891 × 10, sin missing y sin fuga directa del objetivo.</a:t>
            </a:r>
          </a:p>
          <a:p>
            <a:pPr>
              <a:spcAft>
                <a:spcPts val="600"/>
              </a:spcAft>
              <a:defRPr sz="1300">
                <a:solidFill>
                  <a:srgbClr val="232323"/>
                </a:solidFill>
                <a:latin typeface="Arial"/>
              </a:defRPr>
            </a:pPr>
            <a:r>
              <a:t>Los resultados dejan una base técnicamente preparada para modelamiento posterior.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C61D30"/>
                </a:solidFill>
                <a:latin typeface="Arial"/>
              </a:rPr>
              <a:t>Siguiente etapa recomendada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828800"/>
            <a:ext cx="4572000" cy="457200"/>
          </a:xfrm>
          <a:prstGeom prst="round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1965960"/>
            <a:ext cx="42976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232323"/>
                </a:solidFill>
                <a:latin typeface="Arial"/>
              </a:rPr>
              <a:t>1. Partición train/test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468880"/>
            <a:ext cx="4572000" cy="457200"/>
          </a:xfrm>
          <a:prstGeom prst="round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2606039"/>
            <a:ext cx="42976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232323"/>
                </a:solidFill>
                <a:latin typeface="Arial"/>
              </a:rPr>
              <a:t>2. Modelos base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3108960"/>
            <a:ext cx="4572000" cy="457200"/>
          </a:xfrm>
          <a:prstGeom prst="round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3246120"/>
            <a:ext cx="42976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232323"/>
                </a:solidFill>
                <a:latin typeface="Arial"/>
              </a:rPr>
              <a:t>3. Validación cruzada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3749039"/>
            <a:ext cx="4572000" cy="457200"/>
          </a:xfrm>
          <a:prstGeom prst="round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3886200"/>
            <a:ext cx="42976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232323"/>
                </a:solidFill>
                <a:latin typeface="Arial"/>
              </a:rPr>
              <a:t>4. Métricas y calibración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4389120"/>
            <a:ext cx="4572000" cy="457200"/>
          </a:xfrm>
          <a:prstGeom prst="roundRect">
            <a:avLst/>
          </a:prstGeom>
          <a:solidFill>
            <a:srgbClr val="F2F5F7"/>
          </a:solidFill>
          <a:ln>
            <a:solidFill>
              <a:srgbClr val="AF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9400" y="4526279"/>
            <a:ext cx="42976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232323"/>
                </a:solidFill>
                <a:latin typeface="Arial"/>
              </a:rPr>
              <a:t>5. Importancia/estabilidad de variables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25780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0B3C5D"/>
                </a:solidFill>
                <a:latin typeface="Arial"/>
              </a:rPr>
              <a:t>Gracias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5888736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dirty="0" err="1">
                <a:solidFill>
                  <a:srgbClr val="5F6973"/>
                </a:solidFill>
                <a:latin typeface="Arial"/>
              </a:rPr>
              <a:t>Referencias principales: Waskom (2021); Kuhn &amp; Johnson (2019); McKinney (2010); Universidad Andrés Bello (2026).</a:t>
            </a:r>
            <a:r>
              <a:rPr sz="800" b="0" dirty="0">
                <a:solidFill>
                  <a:srgbClr val="5F6973"/>
                </a:solidFill>
                <a:latin typeface="Arial"/>
              </a:rPr>
              <a:t/>
            </a:r>
            <a:r>
              <a:rPr sz="800" b="0" dirty="0" err="1">
                <a:solidFill>
                  <a:srgbClr val="5F6973"/>
                </a:solidFill>
                <a:latin typeface="Arial"/>
              </a:rPr>
              <a:t/>
            </a:r>
            <a:r>
              <a:rPr sz="800" b="0" dirty="0">
                <a:solidFill>
                  <a:srgbClr val="5F6973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1314</Words>
  <Application>Microsoft Office PowerPoint</Application>
  <PresentationFormat>Panorámica</PresentationFormat>
  <Paragraphs>200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usuario</cp:lastModifiedBy>
  <cp:revision>2</cp:revision>
  <dcterms:created xsi:type="dcterms:W3CDTF">2013-01-27T09:14:16Z</dcterms:created>
  <dcterms:modified xsi:type="dcterms:W3CDTF">2026-09-20T21:33:22Z</dcterms:modified>
  <cp:category/>
</cp:coreProperties>
</file>